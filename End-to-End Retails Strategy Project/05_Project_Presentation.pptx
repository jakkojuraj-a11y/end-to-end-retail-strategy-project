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274320" y="-274320"/>
            <a:ext cx="228600" cy="74066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OLIST E-COMMERCE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D2FF"/>
                </a:solidFill>
                <a:latin typeface="Calibri"/>
              </a:defRPr>
              <a:lnSpc>
                <a:spcPct val="114999"/>
              </a:lnSpc>
            </a:pPr>
            <a:r>
              <a:t>End-to-End Data Analytics Project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2514600"/>
            <a:ext cx="36576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283464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CBD5E1"/>
                </a:solidFill>
                <a:latin typeface="Calibri"/>
              </a:defRPr>
              <a:lnSpc>
                <a:spcPct val="140000"/>
              </a:lnSpc>
            </a:pPr>
            <a:r>
              <a:t>Analyzing 100K+ orders from Brazil's largest</a:t>
            </a:r>
            <a:br/>
            <a:r>
              <a:t>e-commerce marketplace (2016 – 2018)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71600" y="4206240"/>
            <a:ext cx="1737360" cy="5029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" y="4224528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D2FF"/>
                </a:solidFill>
                <a:latin typeface="Calibri"/>
              </a:defRPr>
              <a:lnSpc>
                <a:spcPct val="114999"/>
              </a:lnSpc>
            </a:pPr>
            <a:r>
              <a:t>Python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3280" y="4206240"/>
            <a:ext cx="1737360" cy="5029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83280" y="4224528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0B981"/>
                </a:solidFill>
                <a:latin typeface="Calibri"/>
              </a:defRPr>
              <a:lnSpc>
                <a:spcPct val="114999"/>
              </a:lnSpc>
            </a:pPr>
            <a:r>
              <a:t>Pandas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94960" y="4206240"/>
            <a:ext cx="1737360" cy="5029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4960" y="4224528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59E0B"/>
                </a:solidFill>
                <a:latin typeface="Calibri"/>
              </a:defRPr>
              <a:lnSpc>
                <a:spcPct val="114999"/>
              </a:lnSpc>
            </a:pPr>
            <a:r>
              <a:t>MySQL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406640" y="4206240"/>
            <a:ext cx="1737360" cy="5029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06640" y="4224528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7C3AED"/>
                </a:solidFill>
                <a:latin typeface="Calibri"/>
              </a:defRPr>
              <a:lnSpc>
                <a:spcPct val="114999"/>
              </a:lnSpc>
            </a:pPr>
            <a:r>
              <a:t>Power BI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71600" y="53035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Jakkoju Vikasraj</a:t>
            </a:r>
          </a:p>
        </p:txBody>
      </p:sp>
      <p:sp>
        <p:nvSpPr>
          <p:cNvPr id="71" name="Oval 70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058400" y="1828800"/>
            <a:ext cx="1371600" cy="1371600"/>
          </a:xfrm>
          <a:prstGeom prst="ellipse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1 / 12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afterGroup">
                <p:stCondLst>
                  <p:cond evt="onBegin" delay="200">
                    <p:tn val="1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6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afterGroup">
                <p:stCondLst>
                  <p:cond evt="onBegin" delay="500">
                    <p:tn val="1"/>
                  </p:cond>
                </p:stCondLst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6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dur="indefinite" nodeType="afterGroup">
                <p:stCondLst>
                  <p:cond evt="onBegin" delay="800">
                    <p:tn val="1"/>
                  </p:cond>
                </p:stCondLst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dur="indefinite" nodeType="afterGroup">
                <p:stCondLst>
                  <p:cond evt="onBegin" delay="1000">
                    <p:tn val="1"/>
                  </p:cond>
                </p:stCondLst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6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6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4" dur="indefinite" nodeType="afterGroup">
                <p:stCondLst>
                  <p:cond evt="onBegin" delay="1300">
                    <p:tn val="1"/>
                  </p:cond>
                </p:stCondLst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2" dur="indefinite" nodeType="afterGroup">
                <p:stCondLst>
                  <p:cond evt="onBegin" delay="1450">
                    <p:tn val="1"/>
                  </p:cond>
                </p:stCondLst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dur="indefinite" nodeType="afterGroup">
                <p:stCondLst>
                  <p:cond evt="onBegin" delay="1600">
                    <p:tn val="1"/>
                  </p:cond>
                </p:stCondLst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8" dur="indefinite" nodeType="afterGroup">
                <p:stCondLst>
                  <p:cond evt="onBegin" delay="1750">
                    <p:tn val="1"/>
                  </p:cond>
                </p:stCondLst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4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6" dur="indefinite" nodeType="afterGroup">
                <p:stCondLst>
                  <p:cond evt="onBegin" delay="2000">
                    <p:tn val="1"/>
                  </p:cond>
                </p:stCondLst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5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📋 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56032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Despite large sales volume, Olist faces several operational challenges: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19202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EF4444"/>
                </a:solidFill>
                <a:latin typeface="Calibri"/>
              </a:defRPr>
              <a:lnSpc>
                <a:spcPct val="114999"/>
              </a:lnSpc>
            </a:pPr>
            <a:r>
              <a:t>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Delayed Deliveries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8036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  <a:lnSpc>
                <a:spcPct val="130000"/>
              </a:lnSpc>
            </a:pPr>
            <a:r>
              <a:t>Long delivery times impacting</a:t>
            </a:r>
            <a:br/>
            <a:r>
              <a:t>customer experience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383280" cy="19202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59E0B"/>
                </a:solidFill>
                <a:latin typeface="Calibri"/>
              </a:defRPr>
              <a:lnSpc>
                <a:spcPct val="114999"/>
              </a:lnSpc>
            </a:pPr>
            <a:r>
              <a:t>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High Logistics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8036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  <a:lnSpc>
                <a:spcPct val="130000"/>
              </a:lnSpc>
            </a:pPr>
            <a:r>
              <a:t>Freight charges eating</a:t>
            </a:r>
            <a:br/>
            <a:r>
              <a:t>into profit margins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383280" cy="19202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0116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7C3AED"/>
                </a:solidFill>
                <a:latin typeface="Calibri"/>
              </a:defRPr>
              <a:lnSpc>
                <a:spcPct val="114999"/>
              </a:lnSpc>
            </a:pPr>
            <a:r>
              <a:t>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4688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Low Review Scores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88036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  <a:lnSpc>
                <a:spcPct val="130000"/>
              </a:lnSpc>
            </a:pPr>
            <a:r>
              <a:t>Customer dissatisfaction</a:t>
            </a:r>
            <a:br/>
            <a:r>
              <a:t>across product categories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069080"/>
            <a:ext cx="3383280" cy="19202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25196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EC4899"/>
                </a:solidFill>
                <a:latin typeface="Calibri"/>
              </a:defRPr>
              <a:lnSpc>
                <a:spcPct val="114999"/>
              </a:lnSpc>
            </a:pPr>
            <a:r>
              <a:t>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High Cancellations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12064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  <a:lnSpc>
                <a:spcPct val="130000"/>
              </a:lnSpc>
            </a:pPr>
            <a:r>
              <a:t>Orders cancelled</a:t>
            </a:r>
            <a:br/>
            <a:r>
              <a:t>before completion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4840" y="4069080"/>
            <a:ext cx="3383280" cy="19202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425196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D2FF"/>
                </a:solidFill>
                <a:latin typeface="Calibri"/>
              </a:defRPr>
              <a:lnSpc>
                <a:spcPct val="114999"/>
              </a:lnSpc>
            </a:pPr>
            <a:r>
              <a:t>🗺️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7091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Regional Inefficiency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12064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  <a:lnSpc>
                <a:spcPct val="130000"/>
              </a:lnSpc>
            </a:pPr>
            <a:r>
              <a:t>Uneven delivery performance</a:t>
            </a:r>
            <a:br/>
            <a:r>
              <a:t>across Brazilian states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4069080"/>
            <a:ext cx="3383280" cy="19202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425196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10B981"/>
                </a:solidFill>
                <a:latin typeface="Calibri"/>
              </a:defRPr>
              <a:lnSpc>
                <a:spcPct val="114999"/>
              </a:lnSpc>
            </a:pPr>
            <a:r>
              <a:t>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7091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Revenue Concentration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512064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  <a:lnSpc>
                <a:spcPct val="130000"/>
              </a:lnSpc>
            </a:pPr>
            <a:r>
              <a:t>Over-reliance on few</a:t>
            </a:r>
            <a:br/>
            <a:r>
              <a:t>customers &amp; sellers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2 / 12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afterGroup">
                <p:stCondLst>
                  <p:cond evt="onBegin" delay="300">
                    <p:tn val="1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afterGroup">
                <p:stCondLst>
                  <p:cond evt="onBegin" delay="500">
                    <p:tn val="1"/>
                  </p:cond>
                </p:stCondLst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dur="indefinite" nodeType="afterGroup">
                <p:stCondLst>
                  <p:cond evt="onBegin" delay="700">
                    <p:tn val="1"/>
                  </p:cond>
                </p:stCondLst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dur="indefinite" nodeType="afterGroup">
                <p:stCondLst>
                  <p:cond evt="onBegin" delay="900">
                    <p:tn val="1"/>
                  </p:cond>
                </p:stCondLst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4" dur="indefinite" nodeType="afterGroup">
                <p:stCondLst>
                  <p:cond evt="onBegin" delay="1100">
                    <p:tn val="1"/>
                  </p:cond>
                </p:stCondLst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2" dur="indefinite" nodeType="afterGroup">
                <p:stCondLst>
                  <p:cond evt="onBegin" delay="1300">
                    <p:tn val="1"/>
                  </p:cond>
                </p:stCondLst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🧰  TOOLS &amp;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56032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463040"/>
            <a:ext cx="2651760" cy="48463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1737360"/>
            <a:ext cx="1097280" cy="109728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/>
            </a:pPr>
            <a:r>
              <a:t>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175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Python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347472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Calibri"/>
              </a:defRPr>
              <a:lnSpc>
                <a:spcPct val="135000"/>
              </a:lnSpc>
            </a:pPr>
            <a:r>
              <a:t>Data loading, merging,</a:t>
            </a:r>
            <a:br/>
            <a:r>
              <a:t>cleaning &amp; EDA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  <a:lnSpc>
                <a:spcPct val="140000"/>
              </a:lnSpc>
            </a:pPr>
            <a:r>
              <a:t>Pandas  •  NumPy</a:t>
            </a:r>
            <a:br/>
            <a:r>
              <a:t>Seaborn  •  Matplotlib</a:t>
            </a:r>
            <a:br/>
            <a:r>
              <a:t>Missingno  •  SQLAlchemy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63040"/>
            <a:ext cx="2651760" cy="48463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97680" y="1737360"/>
            <a:ext cx="1097280" cy="109728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/>
            </a:pPr>
            <a:r>
              <a:t>🗄️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0175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MySQL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3474720"/>
            <a:ext cx="1371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70332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Calibri"/>
              </a:defRPr>
              <a:lnSpc>
                <a:spcPct val="135000"/>
              </a:lnSpc>
            </a:pPr>
            <a:r>
              <a:t>Business analysis &amp;</a:t>
            </a:r>
            <a:br/>
            <a:r>
              <a:t>advanced SQL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66344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  <a:lnSpc>
                <a:spcPct val="140000"/>
              </a:lnSpc>
            </a:pPr>
            <a:r>
              <a:t>CTEs  •  Window Functions</a:t>
            </a:r>
            <a:br/>
            <a:r>
              <a:t>JOINs  •  Aggregations</a:t>
            </a:r>
            <a:br/>
            <a:r>
              <a:t>30+ Analytical Queries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463040"/>
            <a:ext cx="2651760" cy="48463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23760" y="1737360"/>
            <a:ext cx="1097280" cy="109728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/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0175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Power BI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3474720"/>
            <a:ext cx="1371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70332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Calibri"/>
              </a:defRPr>
              <a:lnSpc>
                <a:spcPct val="135000"/>
              </a:lnSpc>
            </a:pPr>
            <a:r>
              <a:t>Interactive dashboard</a:t>
            </a:r>
            <a:br/>
            <a:r>
              <a:t>&amp; visual reporting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66344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  <a:lnSpc>
                <a:spcPct val="140000"/>
              </a:lnSpc>
            </a:pPr>
            <a:r>
              <a:t>KPI Cards  •  Slicers</a:t>
            </a:r>
            <a:br/>
            <a:r>
              <a:t>Charts  •  Filters</a:t>
            </a:r>
            <a:br/>
            <a:r>
              <a:t>Dynamic Visuals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600" y="1463040"/>
            <a:ext cx="2651760" cy="48463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0" y="1737360"/>
            <a:ext cx="1097280" cy="109728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/>
            </a:pPr>
            <a:r>
              <a:t>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0175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Jupyter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12680" y="3474720"/>
            <a:ext cx="13716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370332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Calibri"/>
              </a:defRPr>
              <a:lnSpc>
                <a:spcPct val="135000"/>
              </a:lnSpc>
            </a:pPr>
            <a:r>
              <a:t>Development</a:t>
            </a:r>
            <a:br/>
            <a:r>
              <a:t>environment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466344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  <a:lnSpc>
                <a:spcPct val="140000"/>
              </a:lnSpc>
            </a:pPr>
            <a:r>
              <a:t>Notebooks  •  Markdown</a:t>
            </a:r>
            <a:br/>
            <a:r>
              <a:t>Inline Visualization</a:t>
            </a:r>
            <a:br/>
            <a:r>
              <a:t>Iterative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3 / 12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afterGroup">
                <p:stCondLst>
                  <p:cond evt="onBegin" delay="200">
                    <p:tn val="1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afterGroup">
                <p:stCondLst>
                  <p:cond evt="onBegin" delay="450">
                    <p:tn val="1"/>
                  </p:cond>
                </p:stCondLst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dur="indefinite" nodeType="afterGroup">
                <p:stCondLst>
                  <p:cond evt="onBegin" delay="700">
                    <p:tn val="1"/>
                  </p:cond>
                </p:stCondLst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dur="indefinite" nodeType="afterGroup">
                <p:stCondLst>
                  <p:cond evt="onBegin" delay="950">
                    <p:tn val="1"/>
                  </p:cond>
                </p:stCondLst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🔄  DATA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56032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1645920"/>
            <a:ext cx="822960" cy="8229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28800" y="1874520"/>
            <a:ext cx="45720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6517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D2FF"/>
                </a:solidFill>
                <a:latin typeface="Calibri"/>
              </a:defRPr>
              <a:lnSpc>
                <a:spcPct val="114999"/>
              </a:lnSpc>
            </a:pPr>
            <a:r>
              <a:t>RAW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175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  <a:lnSpc>
                <a:spcPct val="130000"/>
              </a:lnSpc>
            </a:pPr>
            <a:r>
              <a:t>9 CSV Files</a:t>
            </a:r>
            <a:br/>
            <a:r>
              <a:t>(Kaggle Dataset)</a:t>
            </a:r>
          </a:p>
        </p:txBody>
      </p:sp>
      <p:sp>
        <p:nvSpPr>
          <p:cNvPr id="10" name="Oval 9"/>
          <p:cNvSpPr/>
          <p:nvPr/>
        </p:nvSpPr>
        <p:spPr>
          <a:xfrm>
            <a:off x="2834640" y="1645920"/>
            <a:ext cx="822960" cy="8229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794760" y="1874520"/>
            <a:ext cx="45720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26517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0B981"/>
                </a:solidFill>
                <a:latin typeface="Calibri"/>
              </a:defRPr>
              <a:lnSpc>
                <a:spcPct val="114999"/>
              </a:lnSpc>
            </a:pPr>
            <a:r>
              <a:t>MERGE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0175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  <a:lnSpc>
                <a:spcPct val="130000"/>
              </a:lnSpc>
            </a:pPr>
            <a:r>
              <a:t>Pandas Merge</a:t>
            </a:r>
            <a:br/>
            <a:r>
              <a:t>119K × 44 cols</a:t>
            </a:r>
          </a:p>
        </p:txBody>
      </p:sp>
      <p:sp>
        <p:nvSpPr>
          <p:cNvPr id="18" name="Oval 17"/>
          <p:cNvSpPr/>
          <p:nvPr/>
        </p:nvSpPr>
        <p:spPr>
          <a:xfrm>
            <a:off x="4800600" y="164592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760720" y="1874520"/>
            <a:ext cx="45720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26517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59E0B"/>
                </a:solidFill>
                <a:latin typeface="Calibri"/>
              </a:defRPr>
              <a:lnSpc>
                <a:spcPct val="114999"/>
              </a:lnSpc>
            </a:pPr>
            <a:r>
              <a:t>CLEAN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0175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  <a:lnSpc>
                <a:spcPct val="130000"/>
              </a:lnSpc>
            </a:pPr>
            <a:r>
              <a:t>Missing Values</a:t>
            </a:r>
            <a:br/>
            <a:r>
              <a:t>Type Optimize</a:t>
            </a:r>
          </a:p>
        </p:txBody>
      </p:sp>
      <p:sp>
        <p:nvSpPr>
          <p:cNvPr id="26" name="Oval 25"/>
          <p:cNvSpPr/>
          <p:nvPr/>
        </p:nvSpPr>
        <p:spPr>
          <a:xfrm>
            <a:off x="6766559" y="164592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726679" y="1874520"/>
            <a:ext cx="45720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39" y="26517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7C3AED"/>
                </a:solidFill>
                <a:latin typeface="Calibri"/>
              </a:defRPr>
              <a:lnSpc>
                <a:spcPct val="114999"/>
              </a:lnSpc>
            </a:pPr>
            <a:r>
              <a:t>DATABASE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39" y="30175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  <a:lnSpc>
                <a:spcPct val="130000"/>
              </a:lnSpc>
            </a:pPr>
            <a:r>
              <a:t>MySQL Export</a:t>
            </a:r>
            <a:br/>
            <a:r>
              <a:t>via SQLAlchemy</a:t>
            </a:r>
          </a:p>
        </p:txBody>
      </p:sp>
      <p:sp>
        <p:nvSpPr>
          <p:cNvPr id="34" name="Oval 33"/>
          <p:cNvSpPr/>
          <p:nvPr/>
        </p:nvSpPr>
        <p:spPr>
          <a:xfrm>
            <a:off x="8732520" y="1645920"/>
            <a:ext cx="822960" cy="8229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692640" y="1874520"/>
            <a:ext cx="45720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26517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F4444"/>
                </a:solidFill>
                <a:latin typeface="Calibri"/>
              </a:defRPr>
              <a:lnSpc>
                <a:spcPct val="114999"/>
              </a:lnSpc>
            </a:pPr>
            <a:r>
              <a:t>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0175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  <a:lnSpc>
                <a:spcPct val="130000"/>
              </a:lnSpc>
            </a:pPr>
            <a:r>
              <a:t>30+ SQL Queries</a:t>
            </a:r>
            <a:br/>
            <a:r>
              <a:t>Business Insights</a:t>
            </a:r>
          </a:p>
        </p:txBody>
      </p:sp>
      <p:sp>
        <p:nvSpPr>
          <p:cNvPr id="42" name="Oval 41"/>
          <p:cNvSpPr/>
          <p:nvPr/>
        </p:nvSpPr>
        <p:spPr>
          <a:xfrm>
            <a:off x="10698480" y="1645920"/>
            <a:ext cx="822960" cy="8229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95560" y="26517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D2FF"/>
                </a:solidFill>
                <a:latin typeface="Calibri"/>
              </a:defRPr>
              <a:lnSpc>
                <a:spcPct val="114999"/>
              </a:lnSpc>
            </a:pPr>
            <a:r>
              <a:t>DASHBOARD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95560" y="30175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  <a:lnSpc>
                <a:spcPct val="130000"/>
              </a:lnSpc>
            </a:pPr>
            <a:r>
              <a:t>Power BI Report</a:t>
            </a:r>
            <a:br/>
            <a:r>
              <a:t>Interactive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" y="4389120"/>
            <a:ext cx="10332720" cy="1828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452628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D2FF"/>
                </a:solidFill>
                <a:latin typeface="Calibri"/>
              </a:defRPr>
              <a:lnSpc>
                <a:spcPct val="114999"/>
              </a:lnSpc>
            </a:pPr>
            <a:r>
              <a:t>📦  DATASET OVERVIEW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88720" y="4983480"/>
            <a:ext cx="9784080" cy="127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71600" y="51206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119,151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1600" y="54864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Rows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31920" y="51206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44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31920" y="54864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Columns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51206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54864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Merged Tables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59" y="51206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2016–2018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59" y="54864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Time Range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4 / 12</a:t>
            </a:r>
          </a:p>
        </p:txBody>
      </p:sp>
    </p:spTree>
  </p:cSld>
  <p:clrMapOvr>
    <a:masterClrMapping/>
  </p:clrMapOvr>
  <p:transition spd="med" advClick="1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afterGroup">
                <p:stCondLst>
                  <p:cond evt="onBegin" delay="300">
                    <p:tn val="1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afterGroup">
                <p:stCondLst>
                  <p:cond evt="onBegin" delay="500">
                    <p:tn val="1"/>
                  </p:cond>
                </p:stCondLst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dur="indefinite" nodeType="afterGroup">
                <p:stCondLst>
                  <p:cond evt="onBegin" delay="700">
                    <p:tn val="1"/>
                  </p:cond>
                </p:stCondLst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dur="indefinite" nodeType="afterGroup">
                <p:stCondLst>
                  <p:cond evt="onBegin" delay="900">
                    <p:tn val="1"/>
                  </p:cond>
                </p:stCondLst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4" dur="indefinite" nodeType="afterGroup">
                <p:stCondLst>
                  <p:cond evt="onBegin" delay="1100">
                    <p:tn val="1"/>
                  </p:cond>
                </p:stCondLst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2" dur="indefinite" nodeType="afterGroup">
                <p:stCondLst>
                  <p:cond evt="onBegin" delay="1300">
                    <p:tn val="1"/>
                  </p:cond>
                </p:stCondLst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0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dur="indefinite" nodeType="afterGroup">
                <p:stCondLst>
                  <p:cond evt="onBegin" delay="1500">
                    <p:tn val="1"/>
                  </p:cond>
                </p:stCondLst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6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600"/>
                                  <p:tgtEl>
                                    <p:spTgt spid="4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📊  KEY METRICS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56032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606040" cy="105156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0B981"/>
                </a:solidFill>
                <a:latin typeface="Calibri"/>
              </a:defRPr>
              <a:lnSpc>
                <a:spcPct val="114999"/>
              </a:lnSpc>
            </a:pPr>
            <a:r>
              <a:t>R$ 16M+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Total Revenue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606040" cy="105156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691640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D2FF"/>
                </a:solidFill>
                <a:latin typeface="Calibri"/>
              </a:defRPr>
              <a:lnSpc>
                <a:spcPct val="114999"/>
              </a:lnSpc>
            </a:pPr>
            <a:r>
              <a:t>96,096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19456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Unique Customers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54480"/>
            <a:ext cx="2606040" cy="105156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691640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F4444"/>
                </a:solidFill>
                <a:latin typeface="Calibri"/>
              </a:defRPr>
              <a:lnSpc>
                <a:spcPct val="114999"/>
              </a:lnSpc>
            </a:pPr>
            <a:r>
              <a:t>~3%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9456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Repeat Purchase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1554480"/>
            <a:ext cx="2606040" cy="105156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691640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59E0B"/>
                </a:solidFill>
                <a:latin typeface="Calibri"/>
              </a:defRPr>
              <a:lnSpc>
                <a:spcPct val="114999"/>
              </a:lnSpc>
            </a:pPr>
            <a:r>
              <a:t>~12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19456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Avg Delivery 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931920"/>
            <a:ext cx="2606040" cy="105156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069080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7C3AED"/>
                </a:solidFill>
                <a:latin typeface="Calibri"/>
              </a:defRPr>
              <a:lnSpc>
                <a:spcPct val="114999"/>
              </a:lnSpc>
            </a:pPr>
            <a:r>
              <a:t>4.09 /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57200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Avg Review Score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29000" y="3931920"/>
            <a:ext cx="2606040" cy="105156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9000" y="4069080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F4444"/>
                </a:solidFill>
                <a:latin typeface="Calibri"/>
              </a:defRPr>
              <a:lnSpc>
                <a:spcPct val="114999"/>
              </a:lnSpc>
            </a:pPr>
            <a:r>
              <a:t>~97%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457200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Churn Rate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09360" y="3931920"/>
            <a:ext cx="2606040" cy="105156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4069080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0B981"/>
                </a:solidFill>
                <a:latin typeface="Calibri"/>
              </a:defRPr>
              <a:lnSpc>
                <a:spcPct val="114999"/>
              </a:lnSpc>
            </a:pPr>
            <a:r>
              <a:t>R$ 160+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457200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Avg Order Value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89720" y="3931920"/>
            <a:ext cx="2606040" cy="105156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89720" y="4069080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59E0B"/>
                </a:solidFill>
                <a:latin typeface="Calibri"/>
              </a:defRPr>
              <a:lnSpc>
                <a:spcPct val="114999"/>
              </a:lnSpc>
            </a:pPr>
            <a:r>
              <a:t>~7.6%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20" y="457200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Late Delivery Rate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5 / 12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afterGroup">
                <p:stCondLst>
                  <p:cond evt="onBegin" delay="200">
                    <p:tn val="1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afterGroup">
                <p:stCondLst>
                  <p:cond evt="onBegin" delay="350">
                    <p:tn val="1"/>
                  </p:cond>
                </p:stCondLst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dur="indefinite" nodeType="afterGroup">
                <p:stCondLst>
                  <p:cond evt="onBegin" delay="500">
                    <p:tn val="1"/>
                  </p:cond>
                </p:stCondLst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dur="indefinite" nodeType="afterGroup">
                <p:stCondLst>
                  <p:cond evt="onBegin" delay="650">
                    <p:tn val="1"/>
                  </p:cond>
                </p:stCondLst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4" dur="indefinite" nodeType="afterGroup">
                <p:stCondLst>
                  <p:cond evt="onBegin" delay="800">
                    <p:tn val="1"/>
                  </p:cond>
                </p:stCondLst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2" dur="indefinite" nodeType="afterGroup">
                <p:stCondLst>
                  <p:cond evt="onBegin" delay="950">
                    <p:tn val="1"/>
                  </p:cond>
                </p:stCondLst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dur="indefinite" nodeType="afterGroup">
                <p:stCondLst>
                  <p:cond evt="onBegin" delay="1100">
                    <p:tn val="1"/>
                  </p:cond>
                </p:stCondLst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8" dur="indefinite" nodeType="afterGroup">
                <p:stCondLst>
                  <p:cond evt="onBegin" delay="1250">
                    <p:tn val="1"/>
                  </p:cond>
                </p:stCondLst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4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💰  REVENUE &amp; GROWTH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56032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607040" cy="6858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00D2FF"/>
                </a:solidFill>
                <a:latin typeface="Calibri"/>
              </a:defRPr>
              <a:lnSpc>
                <a:spcPct val="114999"/>
              </a:lnSpc>
            </a:pPr>
            <a:r>
              <a:t>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527048"/>
            <a:ext cx="9601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BD5E1"/>
                </a:solidFill>
                <a:latin typeface="Calibri"/>
              </a:defRPr>
              <a:lnSpc>
                <a:spcPct val="114999"/>
              </a:lnSpc>
            </a:pPr>
            <a:r>
              <a:t>Revenue shows strong upward trend from 2016 → mid-2018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58568"/>
            <a:ext cx="10607040" cy="6858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50008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00D2FF"/>
                </a:solidFill>
                <a:latin typeface="Calibri"/>
              </a:defRPr>
              <a:lnSpc>
                <a:spcPct val="114999"/>
              </a:lnSpc>
            </a:pPr>
            <a:r>
              <a:t>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68296"/>
            <a:ext cx="9601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BD5E1"/>
                </a:solidFill>
                <a:latin typeface="Calibri"/>
              </a:defRPr>
              <a:lnSpc>
                <a:spcPct val="114999"/>
              </a:lnSpc>
            </a:pPr>
            <a:r>
              <a:t>São Paulo (SP) is the dominant revenue-contributing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99816"/>
            <a:ext cx="10607040" cy="6858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191256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00D2FF"/>
                </a:solidFill>
                <a:latin typeface="Calibri"/>
              </a:defRPr>
              <a:lnSpc>
                <a:spcPct val="114999"/>
              </a:lnSpc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09544"/>
            <a:ext cx="9601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BD5E1"/>
                </a:solidFill>
                <a:latin typeface="Calibri"/>
              </a:defRPr>
              <a:lnSpc>
                <a:spcPct val="114999"/>
              </a:lnSpc>
            </a:pPr>
            <a:r>
              <a:t>Top 10% of customers contribute ~17% of total revenue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941064"/>
            <a:ext cx="10607040" cy="6858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032504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00D2FF"/>
                </a:solidFill>
                <a:latin typeface="Calibri"/>
              </a:defRPr>
              <a:lnSpc>
                <a:spcPct val="114999"/>
              </a:lnSpc>
            </a:pPr>
            <a:r>
              <a:t>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050792"/>
            <a:ext cx="9601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BD5E1"/>
                </a:solidFill>
                <a:latin typeface="Calibri"/>
              </a:defRPr>
              <a:lnSpc>
                <a:spcPct val="114999"/>
              </a:lnSpc>
            </a:pPr>
            <a:r>
              <a:t>November 2017 had highest sales — likely Black Friday effect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782312"/>
            <a:ext cx="10607040" cy="6858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873752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00D2FF"/>
                </a:solidFill>
                <a:latin typeface="Calibri"/>
              </a:defRPr>
              <a:lnSpc>
                <a:spcPct val="114999"/>
              </a:lnSpc>
            </a:pPr>
            <a:r>
              <a:t>⚠️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4892040"/>
            <a:ext cx="9601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BD5E1"/>
                </a:solidFill>
                <a:latin typeface="Calibri"/>
              </a:defRPr>
              <a:lnSpc>
                <a:spcPct val="114999"/>
              </a:lnSpc>
            </a:pPr>
            <a:r>
              <a:t>Some months show &gt;20% MoM decline — clear seasonality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623560"/>
            <a:ext cx="10607040" cy="6858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715000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00D2FF"/>
                </a:solidFill>
                <a:latin typeface="Calibri"/>
              </a:defRPr>
              <a:lnSpc>
                <a:spcPct val="114999"/>
              </a:lnSpc>
            </a:pPr>
            <a:r>
              <a:t>🏙️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4480" y="5733288"/>
            <a:ext cx="9601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BD5E1"/>
                </a:solidFill>
                <a:latin typeface="Calibri"/>
              </a:defRPr>
              <a:lnSpc>
                <a:spcPct val="114999"/>
              </a:lnSpc>
            </a:pPr>
            <a:r>
              <a:t>Metro cities generate significantly higher revenue than rural areas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6 / 12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afterGroup">
                <p:stCondLst>
                  <p:cond evt="onBegin" delay="200">
                    <p:tn val="1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afterGroup">
                <p:stCondLst>
                  <p:cond evt="onBegin" delay="400">
                    <p:tn val="1"/>
                  </p:cond>
                </p:stCondLst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dur="indefinite" nodeType="afterGroup">
                <p:stCondLst>
                  <p:cond evt="onBegin" delay="600">
                    <p:tn val="1"/>
                  </p:cond>
                </p:stCondLst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dur="indefinite" nodeType="afterGroup">
                <p:stCondLst>
                  <p:cond evt="onBegin" delay="800">
                    <p:tn val="1"/>
                  </p:cond>
                </p:stCondLst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4" dur="indefinite" nodeType="afterGroup">
                <p:stCondLst>
                  <p:cond evt="onBegin" delay="1000">
                    <p:tn val="1"/>
                  </p:cond>
                </p:stCondLst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5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2" dur="indefinite" nodeType="afterGroup">
                <p:stCondLst>
                  <p:cond evt="onBegin" delay="1200">
                    <p:tn val="1"/>
                  </p:cond>
                </p:stCondLst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👥  CUSTOMER BEHAVIOR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56032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926080" cy="100584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D2FF"/>
                </a:solidFill>
                <a:latin typeface="Calibri"/>
              </a:defRPr>
              <a:lnSpc>
                <a:spcPct val="114999"/>
              </a:lnSpc>
            </a:pPr>
            <a:r>
              <a:t>96,096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Unique Customers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2926080" cy="100584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F4444"/>
                </a:solidFill>
                <a:latin typeface="Calibri"/>
              </a:defRPr>
              <a:lnSpc>
                <a:spcPct val="114999"/>
              </a:lnSpc>
            </a:pPr>
            <a:r>
              <a:t>~3%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Repeat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2926080" cy="100584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59E0B"/>
                </a:solidFill>
                <a:latin typeface="Calibri"/>
              </a:defRPr>
              <a:lnSpc>
                <a:spcPct val="114999"/>
              </a:lnSpc>
            </a:pPr>
            <a:r>
              <a:t>~97%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Churn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03519"/>
            <a:ext cx="2926080" cy="100584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40679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0B981"/>
                </a:solidFill>
                <a:latin typeface="Calibri"/>
              </a:defRPr>
              <a:lnSpc>
                <a:spcPct val="114999"/>
              </a:lnSpc>
            </a:pPr>
            <a:r>
              <a:t>~90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43599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Avg Repeat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1463040"/>
            <a:ext cx="7589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  <a:lnSpc>
                <a:spcPct val="130000"/>
              </a:lnSpc>
            </a:pPr>
            <a:r>
              <a:t>🔑  Most customers are one-time buyers — retention is critical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2267712"/>
            <a:ext cx="7589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  <a:lnSpc>
                <a:spcPct val="130000"/>
              </a:lnSpc>
            </a:pPr>
            <a:r>
              <a:t>🏙️  São Paulo has the highest number of repeat customers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3072384"/>
            <a:ext cx="7589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  <a:lnSpc>
                <a:spcPct val="130000"/>
              </a:lnSpc>
            </a:pPr>
            <a:r>
              <a:t>💎  High spenders are concentrated in metro cities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0" y="3877056"/>
            <a:ext cx="7589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  <a:lnSpc>
                <a:spcPct val="130000"/>
              </a:lnSpc>
            </a:pPr>
            <a:r>
              <a:t>📊  High Profit segment drives the majority of revenue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0" y="4681728"/>
            <a:ext cx="7589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  <a:lnSpc>
                <a:spcPct val="130000"/>
              </a:lnSpc>
            </a:pPr>
            <a:r>
              <a:t>💡  Metro customers spend more on average than rural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0" y="5486400"/>
            <a:ext cx="7589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  <a:lnSpc>
                <a:spcPct val="130000"/>
              </a:lnSpc>
            </a:pPr>
            <a:r>
              <a:t>📉  Very low repeat rate signals a need for loyalty programs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7 / 12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afterGroup">
                <p:stCondLst>
                  <p:cond evt="onBegin" delay="200">
                    <p:tn val="1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afterGroup">
                <p:stCondLst>
                  <p:cond evt="onBegin" delay="400">
                    <p:tn val="1"/>
                  </p:cond>
                </p:stCondLst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dur="indefinite" nodeType="afterGroup">
                <p:stCondLst>
                  <p:cond evt="onBegin" delay="600">
                    <p:tn val="1"/>
                  </p:cond>
                </p:stCondLst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dur="indefinite" nodeType="afterGroup">
                <p:stCondLst>
                  <p:cond evt="onBegin" delay="800">
                    <p:tn val="1"/>
                  </p:cond>
                </p:stCondLst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4" dur="indefinite" nodeType="afterGroup">
                <p:stCondLst>
                  <p:cond evt="onBegin" delay="400">
                    <p:tn val="1"/>
                  </p:cond>
                </p:stCondLst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2" dur="indefinite" nodeType="afterGroup">
                <p:stCondLst>
                  <p:cond evt="onBegin" delay="550">
                    <p:tn val="1"/>
                  </p:cond>
                </p:stCondLst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dur="indefinite" nodeType="afterGroup">
                <p:stCondLst>
                  <p:cond evt="onBegin" delay="700">
                    <p:tn val="1"/>
                  </p:cond>
                </p:stCondLst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8" dur="indefinite" nodeType="afterGroup">
                <p:stCondLst>
                  <p:cond evt="onBegin" delay="850">
                    <p:tn val="1"/>
                  </p:cond>
                </p:stCondLst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4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6" dur="indefinite" nodeType="afterGroup">
                <p:stCondLst>
                  <p:cond evt="onBegin" delay="1000">
                    <p:tn val="1"/>
                  </p:cond>
                </p:stCondLst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4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4" dur="indefinite" nodeType="afterGroup">
                <p:stCondLst>
                  <p:cond evt="onBegin" delay="1150">
                    <p:tn val="1"/>
                  </p:cond>
                </p:stCondLst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7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40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📦  PRODUCT &amp; CATEGORY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56032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0B981"/>
                </a:solidFill>
                <a:latin typeface="Calibri"/>
              </a:defRPr>
              <a:lnSpc>
                <a:spcPct val="114999"/>
              </a:lnSpc>
            </a:pPr>
            <a:r>
              <a:t>🏆 Top Revenue Categories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29200" cy="530352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93392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Health &amp; Beauty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993392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0B981"/>
                </a:solidFill>
                <a:latin typeface="Calibri"/>
              </a:defRPr>
              <a:lnSpc>
                <a:spcPct val="114999"/>
              </a:lnSpc>
            </a:pPr>
            <a:r>
              <a:t>R$ 1.4M+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78608"/>
            <a:ext cx="5029200" cy="530352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Watches &amp; Gifts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651760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0B981"/>
                </a:solidFill>
                <a:latin typeface="Calibri"/>
              </a:defRPr>
              <a:lnSpc>
                <a:spcPct val="114999"/>
              </a:lnSpc>
            </a:pPr>
            <a:r>
              <a:t>R$ 1.3M+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36976"/>
            <a:ext cx="5029200" cy="530352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310128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Bed, Bath &amp;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310128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0B981"/>
                </a:solidFill>
                <a:latin typeface="Calibri"/>
              </a:defRPr>
              <a:lnSpc>
                <a:spcPct val="114999"/>
              </a:lnSpc>
            </a:pPr>
            <a:r>
              <a:t>R$ 1.2M+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895344"/>
            <a:ext cx="5029200" cy="530352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68496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Sports &amp; Leisure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968496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0B981"/>
                </a:solidFill>
                <a:latin typeface="Calibri"/>
              </a:defRPr>
              <a:lnSpc>
                <a:spcPct val="114999"/>
              </a:lnSpc>
            </a:pPr>
            <a:r>
              <a:t>R$ 1.1M+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553712"/>
            <a:ext cx="5029200" cy="530352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626864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Computers &amp; Accessories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626864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0B981"/>
                </a:solidFill>
                <a:latin typeface="Calibri"/>
              </a:defRPr>
              <a:lnSpc>
                <a:spcPct val="114999"/>
              </a:lnSpc>
            </a:pPr>
            <a:r>
              <a:t>R$ 1.0M+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14173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59E0B"/>
                </a:solidFill>
                <a:latin typeface="Calibri"/>
              </a:defRPr>
              <a:lnSpc>
                <a:spcPct val="114999"/>
              </a:lnSpc>
            </a:pPr>
            <a:r>
              <a:t>🔍 Key Insights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920240"/>
            <a:ext cx="5029200" cy="658368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1993392"/>
            <a:ext cx="365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59E0B"/>
                </a:solidFill>
                <a:latin typeface="Calibri"/>
              </a:defRPr>
              <a:lnSpc>
                <a:spcPct val="114999"/>
              </a:lnSpc>
            </a:pPr>
            <a:r>
              <a:t>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2011680"/>
            <a:ext cx="4206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Calibri"/>
              </a:defRPr>
              <a:lnSpc>
                <a:spcPct val="114999"/>
              </a:lnSpc>
            </a:pPr>
            <a:r>
              <a:t>Some categories have high volume but low AOV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2724912"/>
            <a:ext cx="5029200" cy="658368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2798064"/>
            <a:ext cx="365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59E0B"/>
                </a:solidFill>
                <a:latin typeface="Calibri"/>
              </a:defRPr>
              <a:lnSpc>
                <a:spcPct val="114999"/>
              </a:lnSpc>
            </a:pPr>
            <a:r>
              <a:t>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2816352"/>
            <a:ext cx="4206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Calibri"/>
              </a:defRPr>
              <a:lnSpc>
                <a:spcPct val="114999"/>
              </a:lnSpc>
            </a:pPr>
            <a:r>
              <a:t>Certain categories show higher cancellation rates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3529584"/>
            <a:ext cx="5029200" cy="658368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0" y="3602736"/>
            <a:ext cx="365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59E0B"/>
                </a:solidFill>
                <a:latin typeface="Calibri"/>
              </a:defRPr>
              <a:lnSpc>
                <a:spcPct val="114999"/>
              </a:lnSpc>
            </a:pPr>
            <a:r>
              <a:t>🚚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0880" y="3621024"/>
            <a:ext cx="4206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Calibri"/>
              </a:defRPr>
              <a:lnSpc>
                <a:spcPct val="114999"/>
              </a:lnSpc>
            </a:pPr>
            <a:r>
              <a:t>Heavier products have longer delivery times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0" y="4334256"/>
            <a:ext cx="5029200" cy="658368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0" y="4407408"/>
            <a:ext cx="365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59E0B"/>
                </a:solidFill>
                <a:latin typeface="Calibri"/>
              </a:defRPr>
              <a:lnSpc>
                <a:spcPct val="114999"/>
              </a:lnSpc>
            </a:pPr>
            <a:r>
              <a:t>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0880" y="4425696"/>
            <a:ext cx="4206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Calibri"/>
              </a:defRPr>
              <a:lnSpc>
                <a:spcPct val="114999"/>
              </a:lnSpc>
            </a:pPr>
            <a:r>
              <a:t>Electronics categories tend to have lower ratings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00800" y="5138928"/>
            <a:ext cx="5029200" cy="658368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83680" y="5212080"/>
            <a:ext cx="365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59E0B"/>
                </a:solidFill>
                <a:latin typeface="Calibri"/>
              </a:defRPr>
              <a:lnSpc>
                <a:spcPct val="114999"/>
              </a:lnSpc>
            </a:pPr>
            <a:r>
              <a:t>💡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40880" y="5230368"/>
            <a:ext cx="4206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Calibri"/>
              </a:defRPr>
              <a:lnSpc>
                <a:spcPct val="114999"/>
              </a:lnSpc>
            </a:pPr>
            <a:r>
              <a:t>Focus marketing on high-margin categories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8 / 12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afterGroup">
                <p:stCondLst>
                  <p:cond evt="onBegin" delay="300">
                    <p:tn val="1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afterGroup">
                <p:stCondLst>
                  <p:cond evt="onBegin" delay="450">
                    <p:tn val="1"/>
                  </p:cond>
                </p:stCondLst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dur="indefinite" nodeType="afterGroup">
                <p:stCondLst>
                  <p:cond evt="onBegin" delay="600">
                    <p:tn val="1"/>
                  </p:cond>
                </p:stCondLst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dur="indefinite" nodeType="afterGroup">
                <p:stCondLst>
                  <p:cond evt="onBegin" delay="750">
                    <p:tn val="1"/>
                  </p:cond>
                </p:stCondLst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4" dur="indefinite" nodeType="afterGroup">
                <p:stCondLst>
                  <p:cond evt="onBegin" delay="900">
                    <p:tn val="1"/>
                  </p:cond>
                </p:stCondLst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2" dur="indefinite" nodeType="afterGroup">
                <p:stCondLst>
                  <p:cond evt="onBegin" delay="600">
                    <p:tn val="1"/>
                  </p:cond>
                </p:stCondLst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dur="indefinite" nodeType="afterGroup">
                <p:stCondLst>
                  <p:cond evt="onBegin" delay="750">
                    <p:tn val="1"/>
                  </p:cond>
                </p:stCondLst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8" dur="indefinite" nodeType="afterGroup">
                <p:stCondLst>
                  <p:cond evt="onBegin" delay="900">
                    <p:tn val="1"/>
                  </p:cond>
                </p:stCondLst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4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6" dur="indefinite" nodeType="afterGroup">
                <p:stCondLst>
                  <p:cond evt="onBegin" delay="1050">
                    <p:tn val="1"/>
                  </p:cond>
                </p:stCondLst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4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4" dur="indefinite" nodeType="afterGroup">
                <p:stCondLst>
                  <p:cond evt="onBegin" delay="1200">
                    <p:tn val="1"/>
                  </p:cond>
                </p:stCondLst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7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40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🏪  SELLER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56032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21031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F4444"/>
                </a:solidFill>
                <a:latin typeface="Calibri"/>
              </a:defRPr>
              <a:lnSpc>
                <a:spcPct val="114999"/>
              </a:lnSpc>
            </a:pPr>
            <a:r>
              <a:t>Revenue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Calibri"/>
              </a:defRPr>
              <a:lnSpc>
                <a:spcPct val="140000"/>
              </a:lnSpc>
            </a:pPr>
            <a:r>
              <a:t>Top 20 sellers contribute a significant share of total</a:t>
            </a:r>
            <a:br/>
            <a:r>
              <a:t>revenue — creating dependency and concentration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303520" cy="21031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30352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59E0B"/>
                </a:solidFill>
                <a:latin typeface="Calibri"/>
              </a:defRPr>
              <a:lnSpc>
                <a:spcPct val="114999"/>
              </a:lnSpc>
            </a:pPr>
            <a:r>
              <a:t>Cancellation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4028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Calibri"/>
              </a:defRPr>
              <a:lnSpc>
                <a:spcPct val="140000"/>
              </a:lnSpc>
            </a:pPr>
            <a:r>
              <a:t>Some sellers have disproportionately high cancellation</a:t>
            </a:r>
            <a:br/>
            <a:r>
              <a:t>rates — impacting customer trust and satisfaction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303520" cy="21031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530352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062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C3AED"/>
                </a:solidFill>
                <a:latin typeface="Calibri"/>
              </a:defRPr>
              <a:lnSpc>
                <a:spcPct val="114999"/>
              </a:lnSpc>
            </a:pPr>
            <a:r>
              <a:t>Delivery Variance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0916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Calibri"/>
              </a:defRPr>
              <a:lnSpc>
                <a:spcPct val="140000"/>
              </a:lnSpc>
            </a:pPr>
            <a:r>
              <a:t>Seller delivery times vary significantly — some sellers</a:t>
            </a:r>
            <a:br/>
            <a:r>
              <a:t>consistently ship late, dragging down platform metrics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931920"/>
            <a:ext cx="5303520" cy="21031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3931920"/>
            <a:ext cx="5303520" cy="73152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2062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D2FF"/>
                </a:solidFill>
                <a:latin typeface="Calibri"/>
              </a:defRPr>
              <a:lnSpc>
                <a:spcPct val="114999"/>
              </a:lnSpc>
            </a:pPr>
            <a:r>
              <a:t>Rating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70916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Calibri"/>
              </a:defRPr>
              <a:lnSpc>
                <a:spcPct val="140000"/>
              </a:lnSpc>
            </a:pPr>
            <a:r>
              <a:t>Low-performing sellers pull down overall platform</a:t>
            </a:r>
            <a:br/>
            <a:r>
              <a:t>satisfaction scores — need monitoring and penalties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9 / 12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afterGroup">
                <p:stCondLst>
                  <p:cond evt="onBegin" delay="300">
                    <p:tn val="1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afterGroup">
                <p:stCondLst>
                  <p:cond evt="onBegin" delay="550">
                    <p:tn val="1"/>
                  </p:cond>
                </p:stCondLst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dur="indefinite" nodeType="afterGroup">
                <p:stCondLst>
                  <p:cond evt="onBegin" delay="800">
                    <p:tn val="1"/>
                  </p:cond>
                </p:stCondLst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dur="indefinite" nodeType="afterGroup">
                <p:stCondLst>
                  <p:cond evt="onBegin" delay="1050">
                    <p:tn val="1"/>
                  </p:cond>
                </p:stCondLst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🚚  DELIVERY &amp; LOGISTICS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56032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606040" cy="105156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D2FF"/>
                </a:solidFill>
                <a:latin typeface="Calibri"/>
              </a:defRPr>
              <a:lnSpc>
                <a:spcPct val="114999"/>
              </a:lnSpc>
            </a:pPr>
            <a:r>
              <a:t>~12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Avg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606040" cy="105156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600200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F4444"/>
                </a:solidFill>
                <a:latin typeface="Calibri"/>
              </a:defRPr>
              <a:lnSpc>
                <a:spcPct val="114999"/>
              </a:lnSpc>
            </a:pPr>
            <a:r>
              <a:t>~7.6%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10312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Late Deliveries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463040"/>
            <a:ext cx="2606040" cy="105156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600200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59E0B"/>
                </a:solidFill>
                <a:latin typeface="Calibri"/>
              </a:defRPr>
              <a:lnSpc>
                <a:spcPct val="114999"/>
              </a:lnSpc>
            </a:pPr>
            <a:r>
              <a:t>3.5 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0312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Delayed Rating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1463040"/>
            <a:ext cx="2606040" cy="105156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600200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0B981"/>
                </a:solidFill>
                <a:latin typeface="Calibri"/>
              </a:defRPr>
              <a:lnSpc>
                <a:spcPct val="114999"/>
              </a:lnSpc>
            </a:pPr>
            <a:r>
              <a:t>4.3 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10312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On-Time Rating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017520"/>
            <a:ext cx="10607040" cy="713232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3108960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00D2FF"/>
                </a:solidFill>
                <a:latin typeface="Calibri"/>
              </a:defRPr>
              <a:lnSpc>
                <a:spcPct val="114999"/>
              </a:lnSpc>
            </a:pPr>
            <a:r>
              <a:t>⚠️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3127248"/>
            <a:ext cx="9601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BD5E1"/>
                </a:solidFill>
                <a:latin typeface="Calibri"/>
              </a:defRPr>
              <a:lnSpc>
                <a:spcPct val="114999"/>
              </a:lnSpc>
            </a:pPr>
            <a:r>
              <a:t>Delayed deliveries directly correlate with lower review scores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886200"/>
            <a:ext cx="10607040" cy="713232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3977640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00D2FF"/>
                </a:solidFill>
                <a:latin typeface="Calibri"/>
              </a:defRPr>
              <a:lnSpc>
                <a:spcPct val="114999"/>
              </a:lnSpc>
            </a:pPr>
            <a:r>
              <a:t>🗺️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4480" y="3995928"/>
            <a:ext cx="9601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BD5E1"/>
                </a:solidFill>
                <a:latin typeface="Calibri"/>
              </a:defRPr>
              <a:lnSpc>
                <a:spcPct val="114999"/>
              </a:lnSpc>
            </a:pPr>
            <a:r>
              <a:t>Remote states experience significantly higher delivery delays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754880"/>
            <a:ext cx="10607040" cy="713232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4846320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00D2FF"/>
                </a:solidFill>
                <a:latin typeface="Calibri"/>
              </a:defRPr>
              <a:lnSpc>
                <a:spcPct val="114999"/>
              </a:lnSpc>
            </a:pPr>
            <a:r>
              <a:t>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54480" y="4864608"/>
            <a:ext cx="9601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BD5E1"/>
                </a:solidFill>
                <a:latin typeface="Calibri"/>
              </a:defRPr>
              <a:lnSpc>
                <a:spcPct val="114999"/>
              </a:lnSpc>
            </a:pPr>
            <a:r>
              <a:t>Higher freight charges don't always guarantee faster delivery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5623559"/>
            <a:ext cx="10607040" cy="713232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5840" y="5714999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00D2FF"/>
                </a:solidFill>
                <a:latin typeface="Calibri"/>
              </a:defRPr>
              <a:lnSpc>
                <a:spcPct val="114999"/>
              </a:lnSpc>
            </a:pPr>
            <a:r>
              <a:t>📊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54480" y="5733287"/>
            <a:ext cx="9601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BD5E1"/>
                </a:solidFill>
                <a:latin typeface="Calibri"/>
              </a:defRPr>
              <a:lnSpc>
                <a:spcPct val="114999"/>
              </a:lnSpc>
            </a:pPr>
            <a:r>
              <a:t>On-time deliveries receive ~0.8 points higher ratings on average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10 / 12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afterGroup">
                <p:stCondLst>
                  <p:cond evt="onBegin" delay="200">
                    <p:tn val="1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afterGroup">
                <p:stCondLst>
                  <p:cond evt="onBegin" delay="350">
                    <p:tn val="1"/>
                  </p:cond>
                </p:stCondLst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dur="indefinite" nodeType="afterGroup">
                <p:stCondLst>
                  <p:cond evt="onBegin" delay="500">
                    <p:tn val="1"/>
                  </p:cond>
                </p:stCondLst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dur="indefinite" nodeType="afterGroup">
                <p:stCondLst>
                  <p:cond evt="onBegin" delay="650">
                    <p:tn val="1"/>
                  </p:cond>
                </p:stCondLst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4" dur="indefinite" nodeType="afterGroup">
                <p:stCondLst>
                  <p:cond evt="onBegin" delay="800">
                    <p:tn val="1"/>
                  </p:cond>
                </p:stCondLst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5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2" dur="indefinite" nodeType="afterGroup">
                <p:stCondLst>
                  <p:cond evt="onBegin" delay="1000">
                    <p:tn val="1"/>
                  </p:cond>
                </p:stCondLst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dur="indefinite" nodeType="afterGroup">
                <p:stCondLst>
                  <p:cond evt="onBegin" delay="1200">
                    <p:tn val="1"/>
                  </p:cond>
                </p:stCondLst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5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8" dur="indefinite" nodeType="afterGroup">
                <p:stCondLst>
                  <p:cond evt="onBegin" delay="1400">
                    <p:tn val="1"/>
                  </p:cond>
                </p:stCondLst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45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💡 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56032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07040" cy="9144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55448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46304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D2FF"/>
                </a:solidFill>
                <a:latin typeface="Calibri"/>
              </a:defRPr>
              <a:lnSpc>
                <a:spcPct val="114999"/>
              </a:lnSpc>
            </a:pPr>
            <a:r>
              <a:t>Improve Retention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78308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  <a:lnSpc>
                <a:spcPct val="135000"/>
              </a:lnSpc>
            </a:pPr>
            <a:r>
              <a:t>Launch loyalty programs, personalized recommendations</a:t>
            </a:r>
            <a:br/>
            <a:r>
              <a:t>and re-engagement campaigns to reduce ~97% churn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607040" cy="9144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60604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1460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0B981"/>
                </a:solidFill>
                <a:latin typeface="Calibri"/>
              </a:defRPr>
              <a:lnSpc>
                <a:spcPct val="114999"/>
              </a:lnSpc>
            </a:pPr>
            <a:r>
              <a:t>Optimize Logistics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83464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  <a:lnSpc>
                <a:spcPct val="135000"/>
              </a:lnSpc>
            </a:pPr>
            <a:r>
              <a:t>Partner with regional carriers in high-delay states and</a:t>
            </a:r>
            <a:br/>
            <a:r>
              <a:t>set more realistic estimated delivery dates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10607040" cy="9144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65760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56616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59E0B"/>
                </a:solidFill>
                <a:latin typeface="Calibri"/>
              </a:defRPr>
              <a:lnSpc>
                <a:spcPct val="114999"/>
              </a:lnSpc>
            </a:pPr>
            <a:r>
              <a:t>Diversify Seller 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88620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  <a:lnSpc>
                <a:spcPct val="135000"/>
              </a:lnSpc>
            </a:pPr>
            <a:r>
              <a:t>Reduce revenue concentration risk by onboarding more</a:t>
            </a:r>
            <a:br/>
            <a:r>
              <a:t>quality sellers across diverse categories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79"/>
            <a:ext cx="10607040" cy="9144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709159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617719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C3AED"/>
                </a:solidFill>
                <a:latin typeface="Calibri"/>
              </a:defRPr>
              <a:lnSpc>
                <a:spcPct val="114999"/>
              </a:lnSpc>
            </a:pPr>
            <a:r>
              <a:t>Quality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937759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  <a:lnSpc>
                <a:spcPct val="135000"/>
              </a:lnSpc>
            </a:pPr>
            <a:r>
              <a:t>Implement seller performance monitoring with penalties</a:t>
            </a:r>
            <a:br/>
            <a:r>
              <a:t>for high cancellation rates and late deliveries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577840"/>
            <a:ext cx="10607040" cy="9144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4400" y="576072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566928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F4444"/>
                </a:solidFill>
                <a:latin typeface="Calibri"/>
              </a:defRPr>
              <a:lnSpc>
                <a:spcPct val="114999"/>
              </a:lnSpc>
            </a:pPr>
            <a:r>
              <a:t>Target Metro Markets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598932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  <a:lnSpc>
                <a:spcPct val="135000"/>
              </a:lnSpc>
            </a:pPr>
            <a:r>
              <a:t>Focus marketing on high-value metro cities while</a:t>
            </a:r>
            <a:br/>
            <a:r>
              <a:t>improving rural delivery infrastructure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11 / 12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afterGroup">
                <p:stCondLst>
                  <p:cond evt="onBegin" delay="200">
                    <p:tn val="1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afterGroup">
                <p:stCondLst>
                  <p:cond evt="onBegin" delay="400">
                    <p:tn val="1"/>
                  </p:cond>
                </p:stCondLst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dur="indefinite" nodeType="afterGroup">
                <p:stCondLst>
                  <p:cond evt="onBegin" delay="600">
                    <p:tn val="1"/>
                  </p:cond>
                </p:stCondLst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dur="indefinite" nodeType="afterGroup">
                <p:stCondLst>
                  <p:cond evt="onBegin" delay="800">
                    <p:tn val="1"/>
                  </p:cond>
                </p:stCondLst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4" dur="indefinite" nodeType="afterGroup">
                <p:stCondLst>
                  <p:cond evt="onBegin" delay="1000">
                    <p:tn val="1"/>
                  </p:cond>
                </p:stCondLst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5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0" y="731520"/>
            <a:ext cx="6675120" cy="5394960"/>
          </a:xfrm>
          <a:prstGeom prst="roundRect">
            <a:avLst/>
          </a:prstGeom>
          <a:solidFill>
            <a:srgbClr val="1A253C"/>
          </a:solidFill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1463040"/>
            <a:ext cx="6675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Thank You!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2468880"/>
            <a:ext cx="210312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743200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D2FF"/>
                </a:solidFill>
                <a:latin typeface="Calibri"/>
              </a:defRPr>
              <a:lnSpc>
                <a:spcPct val="114999"/>
              </a:lnSpc>
            </a:pPr>
            <a:r>
              <a:t>Olist E-Commerce Analytics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383280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CBD5E1"/>
                </a:solidFill>
                <a:latin typeface="Calibri"/>
              </a:defRPr>
              <a:lnSpc>
                <a:spcPct val="114999"/>
              </a:lnSpc>
            </a:pPr>
            <a:r>
              <a:t>By: Jakkoju Vikasraj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0" y="4206240"/>
            <a:ext cx="1234440" cy="411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4224528"/>
            <a:ext cx="1234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2FF"/>
                </a:solidFill>
                <a:latin typeface="Calibri"/>
              </a:defRPr>
              <a:lnSpc>
                <a:spcPct val="114999"/>
              </a:lnSpc>
            </a:pPr>
            <a:r>
              <a:t>Python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0" y="4206240"/>
            <a:ext cx="1234440" cy="411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224528"/>
            <a:ext cx="1234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  <a:lnSpc>
                <a:spcPct val="114999"/>
              </a:lnSpc>
            </a:pPr>
            <a:r>
              <a:t>MySQL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0" y="4206240"/>
            <a:ext cx="1234440" cy="411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4224528"/>
            <a:ext cx="1234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59E0B"/>
                </a:solidFill>
                <a:latin typeface="Calibri"/>
              </a:defRPr>
              <a:lnSpc>
                <a:spcPct val="114999"/>
              </a:lnSpc>
            </a:pPr>
            <a:r>
              <a:t>Power BI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46720" y="4206240"/>
            <a:ext cx="1234440" cy="411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46720" y="4224528"/>
            <a:ext cx="1234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C3AED"/>
                </a:solidFill>
                <a:latin typeface="Calibri"/>
              </a:defRPr>
              <a:lnSpc>
                <a:spcPct val="114999"/>
              </a:lnSpc>
            </a:pPr>
            <a:r>
              <a:t>Pandas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0" y="5029200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Questions &amp; Discussion</a:t>
            </a:r>
          </a:p>
        </p:txBody>
      </p:sp>
      <p:sp>
        <p:nvSpPr>
          <p:cNvPr id="71" name="Oval 70"/>
          <p:cNvSpPr/>
          <p:nvPr/>
        </p:nvSpPr>
        <p:spPr>
          <a:xfrm>
            <a:off x="274320" y="914400"/>
            <a:ext cx="1828800" cy="1828800"/>
          </a:xfrm>
          <a:prstGeom prst="ellipse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31520" y="4114800"/>
            <a:ext cx="1371600" cy="1371600"/>
          </a:xfrm>
          <a:prstGeom prst="ellipse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058400" y="3200400"/>
            <a:ext cx="1645920" cy="1645920"/>
          </a:xfrm>
          <a:prstGeom prst="ellipse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  <a:lnSpc>
                <a:spcPct val="114999"/>
              </a:lnSpc>
            </a:pPr>
            <a:r>
              <a:t>12 / 12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afterGroup">
                <p:stCondLst>
                  <p:cond evt="onBegin" delay="300">
                    <p:tn val="1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7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afterGroup">
                <p:stCondLst>
                  <p:cond evt="onBegin" delay="700">
                    <p:tn val="1"/>
                  </p:cond>
                </p:stCondLst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dur="indefinite" nodeType="afterGroup">
                <p:stCondLst>
                  <p:cond evt="onBegin" delay="900">
                    <p:tn val="1"/>
                  </p:cond>
                </p:stCondLst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dur="indefinite" nodeType="afterGroup">
                <p:stCondLst>
                  <p:cond evt="onBegin" delay="1100">
                    <p:tn val="1"/>
                  </p:cond>
                </p:stCondLst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4" dur="indefinite" nodeType="afterGroup">
                <p:stCondLst>
                  <p:cond evt="onBegin" delay="1300">
                    <p:tn val="1"/>
                  </p:cond>
                </p:stCondLst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2" dur="indefinite" nodeType="afterGroup">
                <p:stCondLst>
                  <p:cond evt="onBegin" delay="1420">
                    <p:tn val="1"/>
                  </p:cond>
                </p:stCondLst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dur="indefinite" nodeType="afterGroup">
                <p:stCondLst>
                  <p:cond evt="onBegin" delay="1540">
                    <p:tn val="1"/>
                  </p:cond>
                </p:stCondLst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8" dur="indefinite" nodeType="afterGroup">
                <p:stCondLst>
                  <p:cond evt="onBegin" delay="1660">
                    <p:tn val="1"/>
                  </p:cond>
                </p:stCondLst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4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6" dur="indefinite" nodeType="afterGroup">
                <p:stCondLst>
                  <p:cond evt="onBegin" delay="1800">
                    <p:tn val="1"/>
                  </p:cond>
                </p:stCondLst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5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